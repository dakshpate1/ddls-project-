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2" r:id="rId4"/>
    <p:sldId id="269" r:id="rId5"/>
    <p:sldId id="273" r:id="rId6"/>
    <p:sldId id="261" r:id="rId7"/>
    <p:sldId id="274" r:id="rId8"/>
    <p:sldId id="275" r:id="rId9"/>
    <p:sldId id="268" r:id="rId10"/>
    <p:sldId id="276" r:id="rId11"/>
    <p:sldId id="277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32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606040"/>
            <a:ext cx="1124712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Federated Risk-Sensitive Q-Learning
in Continuous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CCDDEE"/>
                </a:solidFill>
              </a:rPr>
              <a:t>Reproducing Xie (2025) and extending to heterogeneous financial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</a:rPr>
              <a:t>DDLS Spring 2026  ·  Universität Bern  ·  April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Paper?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Finance is where risk-sensitive RL actually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394960" cy="41148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AB8E6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Portfolio allocation is a continuous-time decision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Banks, pension funds, hedge funds all face it daily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Classical RL: risk-neutral agents + discrete time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Neither assumption holds in real finance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394960" cy="411480"/>
          </a:xfrm>
          <a:prstGeom prst="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CD68A"/>
                </a:solidFill>
              </a:rP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CT-RS-q: continuous-time risk-sensitive q-learning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Handles non-linear objectives: mean-variance, CVaR,
   exponential utility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Risk-sensitivity baked into the algorithm via OCE
   framework</a:t>
            </a:r>
          </a:p>
          <a:p>
            <a:pPr algn="l">
              <a:spcBef>
                <a:spcPts val="400"/>
              </a:spcBef>
            </a:pPr>
            <a:r>
              <a:rPr sz="1700" dirty="0">
                <a:solidFill>
                  <a:srgbClr val="FFFFFF"/>
                </a:solidFill>
              </a:rPr>
              <a:t>•  Provably optimal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700"/>
                </a:solidFill>
              </a:rPr>
              <a:t>"Most RL papers either ignore risk or bolt it on as a constraint.
This paper bakes risk-sensitivity into the learning algorithm itself."</a:t>
            </a:r>
          </a:p>
        </p:txBody>
      </p:sp>
    </p:spTree>
    <p:extLst>
      <p:ext uri="{BB962C8B-B14F-4D97-AF65-F5344CB8AC3E}">
        <p14:creationId xmlns:p14="http://schemas.microsoft.com/office/powerpoint/2010/main" val="76196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Wealth follows a stochastic process; maximize a risk-sensitive functional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7AB8E6"/>
                </a:solidFill>
              </a:rPr>
              <a:t>Portfolio SDE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dX_t = X_t (a_t·r₁ + (1−a_t)·r₂) dt  +  X_t (a_t·σ₁·dW₁ + (1−a_t)·σ₂·dW₂)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a_t ∈ [0,1]  — fraction of wealth in asset 1 at time 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11430000" cy="347472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7AB8E6"/>
                </a:solidFill>
              </a:rPr>
              <a:t>Objective (Mean-Variance)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MV(X_T)  =  E[X_T]  −  (α/2)·Var(X_T)         α = risk aversion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5394960" cy="34747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4C4C"/>
                </a:solidFill>
              </a:rPr>
              <a:t>WHY CLASSICAL BELLMAN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Non-linear objectives break the Markov property.
Optimal policy is not Markovian in just (t, X_t).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840480"/>
            <a:ext cx="5760720" cy="347472"/>
          </a:xfrm>
          <a:prstGeom prst="rect">
            <a:avLst/>
          </a:prstGeom>
          <a:solidFill>
            <a:srgbClr val="0A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CD68A"/>
                </a:solidFill>
              </a:rPr>
              <a:t>THE FIX — STATE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2519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Augment state to  (t, X_t, B⁰_t, B¹_t)
B⁰ accumulates rewards; B¹ tracks OCE discounting
→ Bellman works again on the augmented state</a:t>
            </a:r>
          </a:p>
        </p:txBody>
      </p:sp>
    </p:spTree>
    <p:extLst>
      <p:ext uri="{BB962C8B-B14F-4D97-AF65-F5344CB8AC3E}">
        <p14:creationId xmlns:p14="http://schemas.microsoft.com/office/powerpoint/2010/main" val="274751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Algorithm: CT-RS-q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Jointly learns value function J_θ and q-function q_ψ via continuous-time TD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Two Learned Objects  (8 scalar parameters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38528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J_θ(t,x) — value function, quadratic in x  [3 params: θ]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q_ψ(t,x,a) — q-function, quadratic in (a−a*)  [5 params: ψ]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No neural nets — provably optimal parameterization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508760"/>
            <a:ext cx="5669280" cy="365760"/>
          </a:xfrm>
          <a:prstGeom prst="rect">
            <a:avLst/>
          </a:prstGeom>
          <a:solidFill>
            <a:srgbClr val="0A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CD68A"/>
                </a:solidFill>
              </a:rPr>
              <a:t>Policy (Gaussian)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38528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π_ψ(a | t, x)  =  N( a*(t,x),  σ²_τ(t,x) )
mean = optimal allocation   a*(t,x)
variance = exploration temperature  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265176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1.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Run trajectory under current policy π_ψ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9100" y="3771900"/>
            <a:ext cx="30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383280"/>
            <a:ext cx="2651760" cy="320040"/>
          </a:xfrm>
          <a:prstGeom prst="rect">
            <a:avLst/>
          </a:prstGeom>
          <a:solidFill>
            <a:srgbClr val="1A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2. TD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490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TD_k = J_{k+1} − J_k − q_k·dt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3771900"/>
            <a:ext cx="30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383280"/>
            <a:ext cx="2651760" cy="320040"/>
          </a:xfrm>
          <a:prstGeom prst="rect">
            <a:avLst/>
          </a:prstGeom>
          <a:solidFill>
            <a:srgbClr val="50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3. GRADIENT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7490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Ascent on θ and ψ using TD as multiplier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3300" y="3771900"/>
            <a:ext cx="30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4. UPDATED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49039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New π_ψ with refined mean &amp;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700"/>
                </a:solidFill>
              </a:rPr>
              <a:t>"The learned object is an allocation rule — at every instant t, given current wealth x,
it tells you what fraction to invest in asset 1."</a:t>
            </a:r>
          </a:p>
        </p:txBody>
      </p:sp>
    </p:spTree>
    <p:extLst>
      <p:ext uri="{BB962C8B-B14F-4D97-AF65-F5344CB8AC3E}">
        <p14:creationId xmlns:p14="http://schemas.microsoft.com/office/powerpoint/2010/main" val="346095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Reproduced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Table 1, Figure 1, Figure 2 — MV objective within 1.5% of the paper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Cum Return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Std Dev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MV Objective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Baseline (a=0.5)  ours / paper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0.221 / 0.222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0.095 / 0.096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1.217 / 1.217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Optimal (closed form)  ours / paper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0.709 / 0.713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0.720 / 0.721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1.450 / 1.453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CT-RS-q (learned)  ours / paper</a:t>
                      </a:r>
                    </a:p>
                  </a:txBody>
                  <a:tcPr>
                    <a:solidFill>
                      <a:srgbClr val="0A3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0.729 / 0.816</a:t>
                      </a:r>
                    </a:p>
                  </a:txBody>
                  <a:tcPr>
                    <a:solidFill>
                      <a:srgbClr val="0A3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0.791 / 0.872</a:t>
                      </a:r>
                    </a:p>
                  </a:txBody>
                  <a:tcPr>
                    <a:solidFill>
                      <a:srgbClr val="0A35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1.416 / 1.437</a:t>
                      </a:r>
                    </a:p>
                  </a:txBody>
                  <a:tcPr>
                    <a:solidFill>
                      <a:srgbClr val="0A3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605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CCDDEE"/>
                </a:solidFill>
              </a:rPr>
              <a:t>•  Baseline and Optimal land within Monte Carlo noise — essentially exact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DEE"/>
                </a:solidFill>
              </a:rPr>
              <a:t>•  CT-RS-q: MV within 1.5% of paper — the 10.7% cumulative return gap traces to a single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CCDDEE"/>
                </a:solidFill>
              </a:rPr>
              <a:t>•     parameter overshooting on this seed (stochasticity, not a code error)</a:t>
            </a:r>
          </a:p>
        </p:txBody>
      </p:sp>
    </p:spTree>
    <p:extLst>
      <p:ext uri="{BB962C8B-B14F-4D97-AF65-F5344CB8AC3E}">
        <p14:creationId xmlns:p14="http://schemas.microsoft.com/office/powerpoint/2010/main" val="110595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Convergence &amp; Time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Qualitative picture matches the paper — two findings to highlight</a:t>
            </a:r>
          </a:p>
        </p:txBody>
      </p:sp>
      <p:pic>
        <p:nvPicPr>
          <p:cNvPr id="5" name="Picture 4" descr="figure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00"/>
            <a:ext cx="5760720" cy="4191000"/>
          </a:xfrm>
          <a:prstGeom prst="rect">
            <a:avLst/>
          </a:prstGeom>
        </p:spPr>
      </p:pic>
      <p:pic>
        <p:nvPicPr>
          <p:cNvPr id="6" name="Picture 5" descr="figure2_time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14500"/>
            <a:ext cx="5577840" cy="419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0350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</a:rPr>
              <a:t>Fig 1 — 8-panel parameter convergence
Note ψ_ce1 and ψ_ce2 drifting in parallel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350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CD68A"/>
                </a:solidFill>
              </a:rPr>
              <a:t>Fig 2 — CT-RS-q tracks optimal on MV
Both strongly beat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Found: Structural Non-Identifiability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The paper's parameterization has a flat direction the authors don't acknowledge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34747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AB8E6"/>
                </a:solidFill>
              </a:rPr>
              <a:t>The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ψ_ce1 and ψ_ce2 drift in parallel in Figure 1.  Individual values diverge from ground truth — but their DIFFERENCE stays constant.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11430000" cy="347472"/>
          </a:xfrm>
          <a:prstGeom prst="rect">
            <a:avLst/>
          </a:prstGeom>
          <a:solidFill>
            <a:srgbClr val="1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AB8E6"/>
                </a:solidFill>
              </a:rPr>
              <a:t>The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a_ψ  ∝  ψ_a0 − ψ_a1·(1 + c1_ψ / (2·c2_ψ·x))        c1_ψ / c2_ψ  ∝  exp( (ψ_ce1 − ψ_ce2)·τ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ψ_ce1 and ψ_ce2 enter the loss ONLY through their difference.
Gradient is zero along (+1, +1) direction  →  flat null-space.  No training resolves individual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69080"/>
            <a:ext cx="5303520" cy="347472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4C4C"/>
                </a:solidFill>
              </a:rPr>
              <a:t>Paper 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8056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"ψ_ce1 and ψ_ce2 do not fully converge due to non-zero τ"
→  Incomplete: cause is structural, not an exploration artifact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069080"/>
            <a:ext cx="5669280" cy="347472"/>
          </a:xfrm>
          <a:prstGeom prst="rect">
            <a:avLst/>
          </a:prstGeom>
          <a:solidFill>
            <a:srgbClr val="0A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CD68A"/>
                </a:solidFill>
              </a:rPr>
              <a:t>Why FedAvg Fails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48056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Each worker drifts to a DIFFERENT point in the null-space.
FedAvg averages those points — a third meaningless point.
→  FedAvg is broken by construction on this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FD700"/>
                </a:solidFill>
              </a:rPr>
              <a:t>We found something the authors missed — and it turns out to be the exact reason vanilla FedAvg fails.</a:t>
            </a:r>
          </a:p>
        </p:txBody>
      </p:sp>
    </p:spTree>
    <p:extLst>
      <p:ext uri="{BB962C8B-B14F-4D97-AF65-F5344CB8AC3E}">
        <p14:creationId xmlns:p14="http://schemas.microsoft.com/office/powerpoint/2010/main" val="171964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Federated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Finance is naturally federated — this is not a forced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 Banks, asset managers, pension funds: each has its own market data, its own clients, its own risk tolerance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 They cannot and do not share raw data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 Each institution has a different risk aversion α — a pension fund and a hedge fund should NOT share a policy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926080"/>
          <a:ext cx="9875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Worker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r₁, r₂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σ₁, σ₂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Risk α</a:t>
                      </a:r>
                    </a:p>
                  </a:txBody>
                  <a:tcPr>
                    <a:solidFill>
                      <a:srgbClr val="7AB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</a:rPr>
                        <a:t>Worker 1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0.15,  0.25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0.10,  0.12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</a:rPr>
                        <a:t>Worker 2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0.30,  0.10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0.20,  0.15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</a:rPr>
                        <a:t>Worker 3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0.05,  0.08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0.05,  0.06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10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</a:rPr>
                        <a:t>Worker 4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0.20,  0.20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0.25,  0.30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1228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</a:rPr>
                        <a:t>Held-out market</a:t>
                      </a:r>
                    </a:p>
                  </a:txBody>
                  <a:tcPr>
                    <a:solidFill>
                      <a:srgbClr val="0A30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0.12,  0.18</a:t>
                      </a:r>
                    </a:p>
                  </a:txBody>
                  <a:tcPr>
                    <a:solidFill>
                      <a:srgbClr val="0A30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0.15,  0.18</a:t>
                      </a:r>
                    </a:p>
                  </a:txBody>
                  <a:tcPr>
                    <a:solidFill>
                      <a:srgbClr val="0A30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0A3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700"/>
                </a:solidFill>
              </a:rPr>
              <a:t>Heterogeneous markets AND heterogeneous risk preferences — both dimensions the original paper has no mechanism for.</a:t>
            </a:r>
          </a:p>
        </p:txBody>
      </p:sp>
    </p:spTree>
    <p:extLst>
      <p:ext uri="{BB962C8B-B14F-4D97-AF65-F5344CB8AC3E}">
        <p14:creationId xmlns:p14="http://schemas.microsoft.com/office/powerpoint/2010/main" val="271797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Extension: Three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Local (no comms) vs FedAvg (fails) vs PF-CT-RS-q (our contribution)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749039" cy="36576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LOCAL CT-RS-q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Each worker trains independently.
No communication.
Baseline — upper bound for personalization.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389120"/>
            <a:ext cx="3749039" cy="9144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E2E8F0"/>
                </a:solidFill>
              </a:rPr>
              <a:t>✓ Personalized
✗ No knowledge sharing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463040"/>
            <a:ext cx="3749039" cy="3657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VANILLA FedAvg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9" y="192024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Server averages ALL parameters (θ and ψ).
Fails because:
1. Null-space averaging makes ψ_ce1, ψ_ce2 meaningless
2. Averaging ψ across different α destroys risk calibration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4389120"/>
            <a:ext cx="3749039" cy="9144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CA5A5"/>
                </a:solidFill>
              </a:rPr>
              <a:t>✗ Null-space collapse
✗ Risk calibration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8" y="1463040"/>
            <a:ext cx="3749039" cy="365760"/>
          </a:xfrm>
          <a:prstGeom prst="rect">
            <a:avLst/>
          </a:prstGeom>
          <a:solidFill>
            <a:srgbClr val="1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PF-CT-RS-q  (ours)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8" y="192024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Federate θ only (shared market structure)
Keep ψ local (risk preferences are personal)
Null-space fix: freeze ψ_ce2 — pins the flat direction
θ / ψ split comes directly from the math of the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8" y="4389120"/>
            <a:ext cx="3749039" cy="9144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86EFAC"/>
                </a:solidFill>
              </a:rPr>
              <a:t>✓ Shared dynamics
✓ Personalized risk
✓ Null-space pinned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700"/>
                </a:solidFill>
              </a:rPr>
              <a:t>The θ/ψ split is principled: θ captures dynamics (transferable), ψ captures risk preferences (personal).</a:t>
            </a:r>
          </a:p>
        </p:txBody>
      </p:sp>
    </p:spTree>
    <p:extLst>
      <p:ext uri="{BB962C8B-B14F-4D97-AF65-F5344CB8AC3E}">
        <p14:creationId xmlns:p14="http://schemas.microsoft.com/office/powerpoint/2010/main" val="408073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Decentralized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Same principled split, no server needed — connects directly to Week 7 (Dec-RL)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394960" cy="36576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7AB8E6"/>
                </a:solidFill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Remove central server — workers communicate peer-to-peer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Two topologies: Ring (2 neighbors)  and  Fully Connected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Mixing weights: Metropolis-Hastings (standard for gossip)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Same parameter split: gossip θ, keep ψ local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Same null-space fix: freeze ψ_ce2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508760"/>
            <a:ext cx="5669280" cy="365760"/>
          </a:xfrm>
          <a:prstGeom prst="rect">
            <a:avLst/>
          </a:prstGeom>
          <a:solidFill>
            <a:srgbClr val="0A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CD68A"/>
                </a:solidFill>
              </a:rPr>
              <a:t>Why Harder Than Federated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No central aggregator to correct null-space drift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Each worker's θ must converge via local averaging only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Freeze on ψ_ce2 becomes even more critical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FC topology: faster consensus  (O(log n) mixing)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 Ring topology: slower consensus — tests robustness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26280"/>
            <a:ext cx="5394960" cy="173736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CCDDEE"/>
                </a:solidFill>
              </a:rPr>
              <a:t>Ring Topology
1 — 2 — 3 — 4 — 1
(2 neighbors each)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526280"/>
            <a:ext cx="5669280" cy="173736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CCDDEE"/>
                </a:solidFill>
              </a:rPr>
              <a:t>Fully Connected
Every worker ↔ every other
(max connectivity, fastest mixing)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0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9AA"/>
                </a:solidFill>
              </a:rPr>
              <a:t>Phase 3 — in design. Building after Phase 2 is verified (target: May 19).</a:t>
            </a:r>
          </a:p>
        </p:txBody>
      </p:sp>
    </p:spTree>
    <p:extLst>
      <p:ext uri="{BB962C8B-B14F-4D97-AF65-F5344CB8AC3E}">
        <p14:creationId xmlns:p14="http://schemas.microsoft.com/office/powerpoint/2010/main" val="369049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Will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Concrete, honest plan — one primary plot, honest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6858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Primary Result: MV on held-out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17700"/>
            <a:ext cx="38404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Local CT-RS-q  (avg over workers)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17700"/>
            <a:ext cx="2743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9AA"/>
                </a:solidFill>
              </a:rPr>
              <a:t>─────────────────────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17700"/>
            <a:ext cx="438912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</a:rPr>
              <a:t>X (reference)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900"/>
            <a:ext cx="38404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Vanilla FedAvg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4900"/>
            <a:ext cx="2743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C4C"/>
                </a:solidFill>
              </a:rPr>
              <a:t>──────────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74900"/>
            <a:ext cx="438912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4C4C"/>
                </a:solidFill>
              </a:rPr>
              <a:t>drops — null-space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2100"/>
            <a:ext cx="38404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PF-CT-RS-q  (ours)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2100"/>
            <a:ext cx="2743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CD68A"/>
                </a:solidFill>
              </a:rPr>
              <a:t>─────────────────────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32100"/>
            <a:ext cx="438912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CD68A"/>
                </a:solidFill>
              </a:rPr>
              <a:t>✓  principal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89300"/>
            <a:ext cx="38404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Dec CT-RS-q  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89300"/>
            <a:ext cx="2743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CD68A"/>
                </a:solidFill>
              </a:rPr>
              <a:t>───────────────────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89300"/>
            <a:ext cx="438912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CD68A"/>
                </a:solidFill>
              </a:rPr>
              <a:t>✓  slightly 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6500"/>
            <a:ext cx="384048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Dec CT-RS-q  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46500"/>
            <a:ext cx="2743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CD68A"/>
                </a:solidFill>
              </a:rPr>
              <a:t>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46500"/>
            <a:ext cx="438912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CD68A"/>
                </a:solidFill>
              </a:rPr>
              <a:t>✓  matches federated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300" y="4356100"/>
            <a:ext cx="1143000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" y="48260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Phase 2 (federated)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" y="51054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May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9300" y="48260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Phase 3 (decentralized)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9300" y="51054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May 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6800" y="48260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Final report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6800" y="51054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May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4300" y="48260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Final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4300" y="5105400"/>
            <a:ext cx="2730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May 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1143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700"/>
                </a:solidFill>
              </a:rPr>
              <a:t>"We're not just applying FedAvg — we're using a property of the paper's own parameterization
to motivate why it will fail and how to fix it. That's the scientific contribution."</a:t>
            </a:r>
          </a:p>
        </p:txBody>
      </p:sp>
    </p:spTree>
    <p:extLst>
      <p:ext uri="{BB962C8B-B14F-4D97-AF65-F5344CB8AC3E}">
        <p14:creationId xmlns:p14="http://schemas.microsoft.com/office/powerpoint/2010/main" val="248011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68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Phase 1 done, extension principled and locked, ready for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02920" cy="5029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CD68A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Reproduced Table 1, Figure 1, Figure 2  (MV within 1.5% of paper)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50008"/>
            <a:ext cx="502920" cy="5029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CD68A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Found and formalized structural non-identifiability in B.2 parameterization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CD68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4553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Extension design: θ federation, ψ personalization, null-space pinning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9624"/>
            <a:ext cx="502920" cy="5029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D700"/>
                </a:solidFill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953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D700"/>
                </a:solidFill>
              </a:rPr>
              <a:t>Phase 2 (Federated, Module FL): in progress — target May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99432"/>
            <a:ext cx="502920" cy="50292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D700"/>
                </a:solidFill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45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D700"/>
                </a:solidFill>
              </a:rPr>
              <a:t>Phase 3 (Decentralized RL, Module Dec-RL): after Phase 2 verified — May 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669280"/>
            <a:ext cx="114300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DDEE"/>
                </a:solidFill>
              </a:rPr>
              <a:t>This paper is a strong choice for DDLS extensions because the math of continuous-time
risk-sensitive RL gives you a principled reason why federated averaging fails — and a principled fix.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E02F16-240C-4115-882D-38D6F60B8100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ec023a76-ef8e-4c72-ba2e-8006c6a872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1684</Words>
  <Application>Microsoft Office PowerPoint</Application>
  <PresentationFormat>Custom</PresentationFormat>
  <Paragraphs>184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Rafee</cp:lastModifiedBy>
  <cp:revision>2</cp:revision>
  <dcterms:created xsi:type="dcterms:W3CDTF">2013-01-27T09:14:16Z</dcterms:created>
  <dcterms:modified xsi:type="dcterms:W3CDTF">2026-04-26T23:49:49Z</dcterms:modified>
  <cp:category/>
</cp:coreProperties>
</file>